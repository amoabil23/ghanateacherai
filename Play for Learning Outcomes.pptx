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31" r:id="rId2"/>
    <p:sldId id="408" r:id="rId3"/>
    <p:sldId id="369" r:id="rId4"/>
    <p:sldId id="337" r:id="rId5"/>
    <p:sldId id="426" r:id="rId6"/>
    <p:sldId id="427" r:id="rId7"/>
    <p:sldId id="429" r:id="rId8"/>
    <p:sldId id="428" r:id="rId9"/>
    <p:sldId id="430" r:id="rId10"/>
    <p:sldId id="431" r:id="rId11"/>
    <p:sldId id="432" r:id="rId12"/>
    <p:sldId id="433" r:id="rId13"/>
    <p:sldId id="366" r:id="rId14"/>
    <p:sldId id="33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38" autoAdjust="0"/>
    <p:restoredTop sz="92636" autoAdjust="0"/>
  </p:normalViewPr>
  <p:slideViewPr>
    <p:cSldViewPr snapToGrid="0">
      <p:cViewPr varScale="1">
        <p:scale>
          <a:sx n="51" d="100"/>
          <a:sy n="51" d="100"/>
        </p:scale>
        <p:origin x="797"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929FD4-0B17-4ADE-9E84-9BFC98008EFF}" type="datetimeFigureOut">
              <a:rPr lang="en-US" smtClean="0"/>
              <a:t>10/3/2020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8249C-979B-488E-9A93-0B8C063E3557}" type="slidenum">
              <a:rPr lang="en-US" smtClean="0"/>
              <a:t>‹#›</a:t>
            </a:fld>
            <a:endParaRPr lang="en-US"/>
          </a:p>
        </p:txBody>
      </p:sp>
    </p:spTree>
    <p:extLst>
      <p:ext uri="{BB962C8B-B14F-4D97-AF65-F5344CB8AC3E}">
        <p14:creationId xmlns:p14="http://schemas.microsoft.com/office/powerpoint/2010/main" val="1444980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a:t>
            </a:fld>
            <a:endParaRPr lang="en-US" dirty="0"/>
          </a:p>
        </p:txBody>
      </p:sp>
    </p:spTree>
    <p:extLst>
      <p:ext uri="{BB962C8B-B14F-4D97-AF65-F5344CB8AC3E}">
        <p14:creationId xmlns:p14="http://schemas.microsoft.com/office/powerpoint/2010/main" val="2567995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2</a:t>
            </a:fld>
            <a:endParaRPr lang="en-US" dirty="0"/>
          </a:p>
        </p:txBody>
      </p:sp>
    </p:spTree>
    <p:extLst>
      <p:ext uri="{BB962C8B-B14F-4D97-AF65-F5344CB8AC3E}">
        <p14:creationId xmlns:p14="http://schemas.microsoft.com/office/powerpoint/2010/main" val="3809121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3</a:t>
            </a:fld>
            <a:endParaRPr lang="en-US" dirty="0"/>
          </a:p>
        </p:txBody>
      </p:sp>
    </p:spTree>
    <p:extLst>
      <p:ext uri="{BB962C8B-B14F-4D97-AF65-F5344CB8AC3E}">
        <p14:creationId xmlns:p14="http://schemas.microsoft.com/office/powerpoint/2010/main" val="2937644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4</a:t>
            </a:fld>
            <a:endParaRPr lang="en-US" dirty="0"/>
          </a:p>
        </p:txBody>
      </p:sp>
    </p:spTree>
    <p:extLst>
      <p:ext uri="{BB962C8B-B14F-4D97-AF65-F5344CB8AC3E}">
        <p14:creationId xmlns:p14="http://schemas.microsoft.com/office/powerpoint/2010/main" val="1193742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5</a:t>
            </a:fld>
            <a:endParaRPr lang="en-US" dirty="0"/>
          </a:p>
        </p:txBody>
      </p:sp>
    </p:spTree>
    <p:extLst>
      <p:ext uri="{BB962C8B-B14F-4D97-AF65-F5344CB8AC3E}">
        <p14:creationId xmlns:p14="http://schemas.microsoft.com/office/powerpoint/2010/main" val="4007899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6</a:t>
            </a:fld>
            <a:endParaRPr lang="en-US" dirty="0"/>
          </a:p>
        </p:txBody>
      </p:sp>
    </p:spTree>
    <p:extLst>
      <p:ext uri="{BB962C8B-B14F-4D97-AF65-F5344CB8AC3E}">
        <p14:creationId xmlns:p14="http://schemas.microsoft.com/office/powerpoint/2010/main" val="3320931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7</a:t>
            </a:fld>
            <a:endParaRPr lang="en-US" dirty="0"/>
          </a:p>
        </p:txBody>
      </p:sp>
    </p:spTree>
    <p:extLst>
      <p:ext uri="{BB962C8B-B14F-4D97-AF65-F5344CB8AC3E}">
        <p14:creationId xmlns:p14="http://schemas.microsoft.com/office/powerpoint/2010/main" val="3917790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8</a:t>
            </a:fld>
            <a:endParaRPr lang="en-US" dirty="0"/>
          </a:p>
        </p:txBody>
      </p:sp>
    </p:spTree>
    <p:extLst>
      <p:ext uri="{BB962C8B-B14F-4D97-AF65-F5344CB8AC3E}">
        <p14:creationId xmlns:p14="http://schemas.microsoft.com/office/powerpoint/2010/main" val="2584425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9</a:t>
            </a:fld>
            <a:endParaRPr lang="en-US" dirty="0"/>
          </a:p>
        </p:txBody>
      </p:sp>
    </p:spTree>
    <p:extLst>
      <p:ext uri="{BB962C8B-B14F-4D97-AF65-F5344CB8AC3E}">
        <p14:creationId xmlns:p14="http://schemas.microsoft.com/office/powerpoint/2010/main" val="934799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10</a:t>
            </a:fld>
            <a:endParaRPr lang="en-US" dirty="0"/>
          </a:p>
        </p:txBody>
      </p:sp>
    </p:spTree>
    <p:extLst>
      <p:ext uri="{BB962C8B-B14F-4D97-AF65-F5344CB8AC3E}">
        <p14:creationId xmlns:p14="http://schemas.microsoft.com/office/powerpoint/2010/main" val="4116138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11</a:t>
            </a:fld>
            <a:endParaRPr lang="en-US" dirty="0"/>
          </a:p>
        </p:txBody>
      </p:sp>
    </p:spTree>
    <p:extLst>
      <p:ext uri="{BB962C8B-B14F-4D97-AF65-F5344CB8AC3E}">
        <p14:creationId xmlns:p14="http://schemas.microsoft.com/office/powerpoint/2010/main" val="848360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12</a:t>
            </a:fld>
            <a:endParaRPr lang="en-US" dirty="0"/>
          </a:p>
        </p:txBody>
      </p:sp>
    </p:spTree>
    <p:extLst>
      <p:ext uri="{BB962C8B-B14F-4D97-AF65-F5344CB8AC3E}">
        <p14:creationId xmlns:p14="http://schemas.microsoft.com/office/powerpoint/2010/main" val="3749120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13</a:t>
            </a:fld>
            <a:endParaRPr lang="en-US" dirty="0"/>
          </a:p>
        </p:txBody>
      </p:sp>
    </p:spTree>
    <p:extLst>
      <p:ext uri="{BB962C8B-B14F-4D97-AF65-F5344CB8AC3E}">
        <p14:creationId xmlns:p14="http://schemas.microsoft.com/office/powerpoint/2010/main" val="817812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19EE6F-919A-5A49-903F-0DB24CADC559}" type="slidenum">
              <a:rPr lang="en-US" smtClean="0"/>
              <a:t>14</a:t>
            </a:fld>
            <a:endParaRPr lang="en-US" dirty="0"/>
          </a:p>
        </p:txBody>
      </p:sp>
    </p:spTree>
    <p:extLst>
      <p:ext uri="{BB962C8B-B14F-4D97-AF65-F5344CB8AC3E}">
        <p14:creationId xmlns:p14="http://schemas.microsoft.com/office/powerpoint/2010/main" val="45010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861285B-02AC-4A06-A22F-F4AFDEC79C31}" type="datetimeFigureOut">
              <a:rPr lang="en-US" smtClean="0"/>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4060943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61285B-02AC-4A06-A22F-F4AFDEC79C31}" type="datetimeFigureOut">
              <a:rPr lang="en-US" smtClean="0"/>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3014412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861285B-02AC-4A06-A22F-F4AFDEC79C31}" type="datetimeFigureOut">
              <a:rPr lang="en-US" smtClean="0"/>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167160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861285B-02AC-4A06-A22F-F4AFDEC79C31}" type="datetimeFigureOut">
              <a:rPr lang="en-US" smtClean="0"/>
              <a:t>10/3/2020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44685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861285B-02AC-4A06-A22F-F4AFDEC79C31}" type="datetimeFigureOut">
              <a:rPr lang="en-US" smtClean="0"/>
              <a:t>10/3/2020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1825541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861285B-02AC-4A06-A22F-F4AFDEC79C31}" type="datetimeFigureOut">
              <a:rPr lang="en-US" smtClean="0"/>
              <a:t>10/3/2020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235541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61285B-02AC-4A06-A22F-F4AFDEC79C31}" type="datetimeFigureOut">
              <a:rPr lang="en-US" smtClean="0"/>
              <a:t>10/3/2020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70272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61285B-02AC-4A06-A22F-F4AFDEC79C31}" type="datetimeFigureOut">
              <a:rPr lang="en-US" smtClean="0"/>
              <a:t>10/3/2020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669989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61285B-02AC-4A06-A22F-F4AFDEC79C31}" type="datetimeFigureOut">
              <a:rPr lang="en-US" smtClean="0"/>
              <a:t>10/3/2020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1391707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61285B-02AC-4A06-A22F-F4AFDEC79C31}" type="datetimeFigureOut">
              <a:rPr lang="en-US" smtClean="0"/>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1059333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861285B-02AC-4A06-A22F-F4AFDEC79C31}" type="datetimeFigureOut">
              <a:rPr lang="en-US" smtClean="0"/>
              <a:t>10/3/2020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BA3CF5-928C-4255-866F-56C74381EE8F}" type="slidenum">
              <a:rPr lang="en-US" smtClean="0"/>
              <a:t>‹#›</a:t>
            </a:fld>
            <a:endParaRPr lang="en-US"/>
          </a:p>
        </p:txBody>
      </p:sp>
    </p:spTree>
    <p:extLst>
      <p:ext uri="{BB962C8B-B14F-4D97-AF65-F5344CB8AC3E}">
        <p14:creationId xmlns:p14="http://schemas.microsoft.com/office/powerpoint/2010/main" val="1435966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61285B-02AC-4A06-A22F-F4AFDEC79C31}" type="datetimeFigureOut">
              <a:rPr lang="en-US" smtClean="0"/>
              <a:t>10/3/2020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BA3CF5-928C-4255-866F-56C74381EE8F}" type="slidenum">
              <a:rPr lang="en-US" smtClean="0"/>
              <a:t>‹#›</a:t>
            </a:fld>
            <a:endParaRPr lang="en-US"/>
          </a:p>
        </p:txBody>
      </p:sp>
    </p:spTree>
    <p:extLst>
      <p:ext uri="{BB962C8B-B14F-4D97-AF65-F5344CB8AC3E}">
        <p14:creationId xmlns:p14="http://schemas.microsoft.com/office/powerpoint/2010/main" val="3966340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04701" cy="2232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Tree>
    <p:extLst>
      <p:ext uri="{BB962C8B-B14F-4D97-AF65-F5344CB8AC3E}">
        <p14:creationId xmlns:p14="http://schemas.microsoft.com/office/powerpoint/2010/main" val="21672760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877" y="57294"/>
            <a:ext cx="12194357" cy="6596746"/>
          </a:xfrm>
          <a:prstGeom prst="rect">
            <a:avLst/>
          </a:prstGeom>
          <a:solidFill>
            <a:schemeClr val="bg1">
              <a:lumMod val="95000"/>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04701" cy="2232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5" name="TextBox 14">
            <a:extLst>
              <a:ext uri="{FF2B5EF4-FFF2-40B4-BE49-F238E27FC236}">
                <a16:creationId xmlns:a16="http://schemas.microsoft.com/office/drawing/2014/main" xmlns="" id="{02A1F86F-4CF0-CF42-B93F-C6083533C34B}"/>
              </a:ext>
            </a:extLst>
          </p:cNvPr>
          <p:cNvSpPr txBox="1"/>
          <p:nvPr/>
        </p:nvSpPr>
        <p:spPr>
          <a:xfrm>
            <a:off x="194871" y="2473377"/>
            <a:ext cx="11313028" cy="1179105"/>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algn="ctr">
              <a:lnSpc>
                <a:spcPct val="107000"/>
              </a:lnSpc>
              <a:spcBef>
                <a:spcPts val="600"/>
              </a:spcBef>
            </a:pPr>
            <a:r>
              <a:rPr lang="en-US" sz="6600" b="1" dirty="0">
                <a:solidFill>
                  <a:schemeClr val="tx1"/>
                </a:solidFill>
                <a:effectLst>
                  <a:outerShdw blurRad="38100" dist="38100" dir="2700000" algn="tl">
                    <a:srgbClr val="000000">
                      <a:alpha val="43137"/>
                    </a:srgbClr>
                  </a:outerShdw>
                </a:effectLst>
                <a:latin typeface="Maiandra GD" panose="020E0502030308020204" pitchFamily="34" charset="0"/>
                <a:ea typeface="Calibri" panose="020F0502020204030204" pitchFamily="34" charset="0"/>
                <a:cs typeface="Times New Roman" panose="02020603050405020304" pitchFamily="18" charset="0"/>
              </a:rPr>
              <a:t>Play for Learning </a:t>
            </a:r>
            <a:r>
              <a:rPr lang="en-US" sz="6600" b="1" dirty="0" smtClean="0">
                <a:solidFill>
                  <a:schemeClr val="tx1"/>
                </a:solidFill>
                <a:effectLst>
                  <a:outerShdw blurRad="38100" dist="38100" dir="2700000" algn="tl">
                    <a:srgbClr val="000000">
                      <a:alpha val="43137"/>
                    </a:srgbClr>
                  </a:outerShdw>
                </a:effectLst>
                <a:latin typeface="Maiandra GD" panose="020E0502030308020204" pitchFamily="34" charset="0"/>
                <a:ea typeface="Calibri" panose="020F0502020204030204" pitchFamily="34" charset="0"/>
                <a:cs typeface="Times New Roman" panose="02020603050405020304" pitchFamily="18" charset="0"/>
              </a:rPr>
              <a:t>Outcomes.</a:t>
            </a:r>
            <a:endParaRPr lang="en-US" sz="3600" dirty="0">
              <a:solidFill>
                <a:schemeClr val="tx1"/>
              </a:solidFill>
              <a:effectLst>
                <a:outerShdw blurRad="38100" dist="38100" dir="2700000" algn="tl">
                  <a:srgbClr val="000000">
                    <a:alpha val="43137"/>
                  </a:srgbClr>
                </a:outerShdw>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613466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0"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39808" y="121916"/>
            <a:ext cx="12204701" cy="830997"/>
          </a:xfrm>
          <a:prstGeom prst="rect">
            <a:avLst/>
          </a:prstGeom>
          <a:noFill/>
        </p:spPr>
        <p:txBody>
          <a:bodyPr wrap="square" rtlCol="0">
            <a:spAutoFit/>
          </a:bodyPr>
          <a:lstStyle/>
          <a:p>
            <a:pPr lvl="1" algn="ctr"/>
            <a:r>
              <a:rPr lang="en-US" sz="4800" b="1" dirty="0" smtClean="0">
                <a:ln>
                  <a:solidFill>
                    <a:sysClr val="windowText" lastClr="000000"/>
                  </a:solidFill>
                </a:ln>
                <a:solidFill>
                  <a:schemeClr val="bg2">
                    <a:lumMod val="25000"/>
                  </a:schemeClr>
                </a:solidFill>
                <a:latin typeface="Maiandra GD" panose="020E0502030308020204" pitchFamily="34" charset="0"/>
                <a:cs typeface="Calibri" panose="020F0502020204030204" pitchFamily="34" charset="0"/>
              </a:rPr>
              <a:t>Purpose</a:t>
            </a:r>
            <a:endParaRPr lang="en-US" sz="4800" b="1" dirty="0">
              <a:ln>
                <a:solidFill>
                  <a:sysClr val="windowText" lastClr="000000"/>
                </a:solidFill>
              </a:ln>
              <a:solidFill>
                <a:schemeClr val="bg2">
                  <a:lumMod val="25000"/>
                </a:schemeClr>
              </a:solidFill>
              <a:latin typeface="Maiandra GD" panose="020E050203030802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39808" y="1933195"/>
            <a:ext cx="12142126" cy="2939907"/>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342900" marR="0" lvl="0" indent="-342900">
              <a:spcBef>
                <a:spcPts val="0"/>
              </a:spcBef>
              <a:spcAft>
                <a:spcPts val="0"/>
              </a:spcAft>
              <a:buFont typeface="Symbol" panose="05050102010706020507" pitchFamily="18" charset="2"/>
              <a:buChar char=""/>
            </a:pPr>
            <a:r>
              <a:rPr lang="en-CA" sz="3600" dirty="0">
                <a:latin typeface="Maiandra GD" panose="020E0502030308020204" pitchFamily="34" charset="0"/>
                <a:ea typeface="Calibri" panose="020F0502020204030204" pitchFamily="34" charset="0"/>
                <a:cs typeface="Times New Roman" panose="02020603050405020304" pitchFamily="18" charset="0"/>
              </a:rPr>
              <a:t>Participate in a Play-Based Learning activity using a modified game to develop literacy skills</a:t>
            </a:r>
            <a:r>
              <a:rPr lang="en-CA" sz="3600" dirty="0" smtClean="0">
                <a:latin typeface="Maiandra GD" panose="020E0502030308020204" pitchFamily="34" charset="0"/>
                <a:ea typeface="Calibri" panose="020F0502020204030204" pitchFamily="34" charset="0"/>
                <a:cs typeface="Times New Roman" panose="02020603050405020304" pitchFamily="18" charset="0"/>
              </a:rPr>
              <a:t>.</a:t>
            </a:r>
          </a:p>
          <a:p>
            <a:pPr marR="0" lvl="0">
              <a:spcBef>
                <a:spcPts val="0"/>
              </a:spcBef>
              <a:spcAft>
                <a:spcPts val="0"/>
              </a:spcAft>
            </a:pPr>
            <a:endParaRPr lang="en-US" sz="3600" dirty="0">
              <a:latin typeface="Maiandra GD" panose="020E0502030308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CA" sz="3600" dirty="0">
                <a:latin typeface="Maiandra GD" panose="020E0502030308020204" pitchFamily="34" charset="0"/>
                <a:ea typeface="Calibri" panose="020F0502020204030204" pitchFamily="34" charset="0"/>
                <a:cs typeface="Times New Roman" panose="02020603050405020304" pitchFamily="18" charset="0"/>
              </a:rPr>
              <a:t>Create RCA discussion questions for developing core competencies and language skills.  </a:t>
            </a:r>
            <a:endParaRPr lang="en-US" sz="3600" dirty="0">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4757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0"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1014958"/>
          </a:xfrm>
          <a:prstGeom prst="rect">
            <a:avLst/>
          </a:prstGeom>
          <a:noFill/>
        </p:spPr>
        <p:txBody>
          <a:bodyPr wrap="square" rtlCol="0">
            <a:spAutoFit/>
          </a:bodyPr>
          <a:lstStyle/>
          <a:p>
            <a:pPr>
              <a:lnSpc>
                <a:spcPct val="107000"/>
              </a:lnSpc>
              <a:spcAft>
                <a:spcPts val="1200"/>
              </a:spcAft>
              <a:tabLst>
                <a:tab pos="1028700" algn="l"/>
                <a:tab pos="1828800" algn="l"/>
                <a:tab pos="5657850" algn="r"/>
              </a:tabLst>
            </a:pPr>
            <a:r>
              <a:rPr lang="en-US" sz="60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44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1. </a:t>
            </a:r>
            <a:r>
              <a:rPr lang="en-US" sz="40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Developing </a:t>
            </a:r>
            <a:r>
              <a:rPr lang="en-US" sz="4000" b="1" dirty="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Literacy Skills through Play</a:t>
            </a:r>
            <a:endParaRPr lang="en-US" sz="24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2496683"/>
            <a:ext cx="11255633" cy="769441"/>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571500" lvl="0" indent="-571500">
              <a:buFont typeface="Arial" panose="020B0604020202020204" pitchFamily="34" charset="0"/>
              <a:buChar char="•"/>
            </a:pPr>
            <a:r>
              <a:rPr lang="en-CA" sz="4400" i="1" dirty="0" smtClean="0">
                <a:latin typeface="Maiandra GD" panose="020E0502030308020204" pitchFamily="34" charset="0"/>
                <a:ea typeface="Calibri" panose="020F0502020204030204" pitchFamily="34" charset="0"/>
                <a:cs typeface="Times New Roman" panose="02020603050405020304" pitchFamily="18" charset="0"/>
              </a:rPr>
              <a:t>Building </a:t>
            </a:r>
            <a:r>
              <a:rPr lang="en-CA" sz="4400" i="1" dirty="0">
                <a:latin typeface="Maiandra GD" panose="020E0502030308020204" pitchFamily="34" charset="0"/>
                <a:ea typeface="Calibri" panose="020F0502020204030204" pitchFamily="34" charset="0"/>
                <a:cs typeface="Times New Roman" panose="02020603050405020304" pitchFamily="18" charset="0"/>
              </a:rPr>
              <a:t>the </a:t>
            </a:r>
            <a:r>
              <a:rPr lang="en-CA" sz="4400" i="1" dirty="0" smtClean="0">
                <a:latin typeface="Maiandra GD" panose="020E0502030308020204" pitchFamily="34" charset="0"/>
                <a:ea typeface="Calibri" panose="020F0502020204030204" pitchFamily="34" charset="0"/>
                <a:cs typeface="Times New Roman" panose="02020603050405020304" pitchFamily="18" charset="0"/>
              </a:rPr>
              <a:t>Pyramid Game </a:t>
            </a:r>
            <a:endParaRPr lang="en-US" sz="4400" dirty="0" smtClean="0">
              <a:latin typeface="Maiandra GD" panose="020E0502030308020204" pitchFamily="34" charset="0"/>
            </a:endParaRPr>
          </a:p>
        </p:txBody>
      </p:sp>
    </p:spTree>
    <p:extLst>
      <p:ext uri="{BB962C8B-B14F-4D97-AF65-F5344CB8AC3E}">
        <p14:creationId xmlns:p14="http://schemas.microsoft.com/office/powerpoint/2010/main" val="22712556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1014958"/>
          </a:xfrm>
          <a:prstGeom prst="rect">
            <a:avLst/>
          </a:prstGeom>
          <a:noFill/>
        </p:spPr>
        <p:txBody>
          <a:bodyPr wrap="square" rtlCol="0">
            <a:spAutoFit/>
          </a:bodyPr>
          <a:lstStyle/>
          <a:p>
            <a:pPr>
              <a:lnSpc>
                <a:spcPct val="107000"/>
              </a:lnSpc>
              <a:spcAft>
                <a:spcPts val="1200"/>
              </a:spcAft>
              <a:tabLst>
                <a:tab pos="1028700" algn="l"/>
                <a:tab pos="1828800" algn="l"/>
                <a:tab pos="5657850" algn="r"/>
              </a:tabLst>
            </a:pPr>
            <a:r>
              <a:rPr lang="en-US" sz="60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44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1. </a:t>
            </a:r>
            <a:r>
              <a:rPr lang="en-US" sz="40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Developing </a:t>
            </a:r>
            <a:r>
              <a:rPr lang="en-US" sz="4000" b="1" dirty="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Literacy Skills through Play</a:t>
            </a:r>
            <a:endParaRPr lang="en-US" sz="24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2496683"/>
            <a:ext cx="11255633" cy="769441"/>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571500" lvl="0" indent="-571500">
              <a:buFont typeface="Arial" panose="020B0604020202020204" pitchFamily="34" charset="0"/>
              <a:buChar char="•"/>
            </a:pPr>
            <a:r>
              <a:rPr lang="en-CA" sz="4400" i="1" dirty="0" smtClean="0">
                <a:latin typeface="Maiandra GD" panose="020E0502030308020204" pitchFamily="34" charset="0"/>
                <a:ea typeface="Times New Roman" panose="02020603050405020304" pitchFamily="18" charset="0"/>
                <a:cs typeface="Times New Roman" panose="02020603050405020304" pitchFamily="18" charset="0"/>
              </a:rPr>
              <a:t>Build-A-Word </a:t>
            </a:r>
            <a:r>
              <a:rPr lang="en-CA" sz="4400" i="1" dirty="0" smtClean="0">
                <a:latin typeface="Maiandra GD" panose="020E0502030308020204" pitchFamily="34" charset="0"/>
                <a:ea typeface="Calibri" panose="020F0502020204030204" pitchFamily="34" charset="0"/>
                <a:cs typeface="Times New Roman" panose="02020603050405020304" pitchFamily="18" charset="0"/>
              </a:rPr>
              <a:t>Game </a:t>
            </a:r>
            <a:endParaRPr lang="en-US" sz="4400" dirty="0" smtClean="0">
              <a:latin typeface="Maiandra GD" panose="020E0502030308020204" pitchFamily="34" charset="0"/>
            </a:endParaRPr>
          </a:p>
        </p:txBody>
      </p:sp>
    </p:spTree>
    <p:extLst>
      <p:ext uri="{BB962C8B-B14F-4D97-AF65-F5344CB8AC3E}">
        <p14:creationId xmlns:p14="http://schemas.microsoft.com/office/powerpoint/2010/main" val="3285739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826701"/>
          </a:xfrm>
          <a:prstGeom prst="rect">
            <a:avLst/>
          </a:prstGeom>
          <a:noFill/>
        </p:spPr>
        <p:txBody>
          <a:bodyPr wrap="square" rtlCol="0">
            <a:spAutoFit/>
          </a:bodyPr>
          <a:lstStyle/>
          <a:p>
            <a:pPr>
              <a:lnSpc>
                <a:spcPct val="107000"/>
              </a:lnSpc>
              <a:spcAft>
                <a:spcPts val="1200"/>
              </a:spcAft>
              <a:tabLst>
                <a:tab pos="1028700" algn="l"/>
                <a:tab pos="1828800" algn="l"/>
                <a:tab pos="5657850" algn="r"/>
              </a:tabLst>
            </a:pPr>
            <a:r>
              <a:rPr lang="en-US" sz="48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36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1. </a:t>
            </a:r>
            <a:r>
              <a:rPr lang="en-US" sz="32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Developing </a:t>
            </a:r>
            <a:r>
              <a:rPr lang="en-US" sz="3200" b="1" dirty="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Literacy Skills through Play</a:t>
            </a:r>
            <a:endParaRPr lang="en-US"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933091"/>
            <a:ext cx="11255633" cy="6831101"/>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571500" lvl="0" indent="-571500">
              <a:buFont typeface="Arial" panose="020B0604020202020204" pitchFamily="34" charset="0"/>
              <a:buChar char="•"/>
            </a:pPr>
            <a:r>
              <a:rPr lang="en-CA" sz="4000" b="1" i="1" dirty="0" smtClean="0">
                <a:latin typeface="Franklin Gothic Book" panose="020B0503020102020204" pitchFamily="34" charset="0"/>
                <a:ea typeface="Times New Roman" panose="02020603050405020304" pitchFamily="18" charset="0"/>
                <a:cs typeface="Times New Roman" panose="02020603050405020304" pitchFamily="18" charset="0"/>
              </a:rPr>
              <a:t>Modifying Games </a:t>
            </a:r>
          </a:p>
          <a:p>
            <a:pPr algn="ctr">
              <a:spcBef>
                <a:spcPts val="600"/>
              </a:spcBef>
              <a:spcAft>
                <a:spcPts val="600"/>
              </a:spcAft>
            </a:pPr>
            <a:r>
              <a:rPr lang="en-US" sz="2800" b="1" dirty="0" smtClean="0">
                <a:latin typeface="Franklin Gothic Book" panose="020B0503020102020204" pitchFamily="34" charset="0"/>
                <a:ea typeface="Times New Roman" panose="02020603050405020304" pitchFamily="18" charset="0"/>
                <a:cs typeface="Times New Roman" panose="02020603050405020304" pitchFamily="18" charset="0"/>
              </a:rPr>
              <a:t>Remember “STEP” when Modifying Games</a:t>
            </a:r>
            <a:endParaRPr lang="en-US" sz="2800" b="1" dirty="0" smtClean="0">
              <a:latin typeface="Century Gothic" panose="020B0502020202020204" pitchFamily="34" charset="0"/>
              <a:ea typeface="Times New Roman" panose="02020603050405020304" pitchFamily="18" charset="0"/>
              <a:cs typeface="Times New Roman" panose="02020603050405020304" pitchFamily="18" charset="0"/>
            </a:endParaRPr>
          </a:p>
          <a:p>
            <a:pPr>
              <a:lnSpc>
                <a:spcPct val="110000"/>
              </a:lnSpc>
              <a:spcBef>
                <a:spcPts val="300"/>
              </a:spcBef>
              <a:spcAft>
                <a:spcPts val="300"/>
              </a:spcAft>
            </a:pP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When modifying games you can modify the:</a:t>
            </a:r>
            <a:endParaRPr lang="en-US"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L="342900" marR="100330" lvl="0" indent="-342900">
              <a:lnSpc>
                <a:spcPct val="110000"/>
              </a:lnSpc>
              <a:spcBef>
                <a:spcPts val="300"/>
              </a:spcBef>
              <a:spcAft>
                <a:spcPts val="300"/>
              </a:spcAft>
              <a:buFont typeface="Wingdings" panose="05000000000000000000" pitchFamily="2" charset="2"/>
              <a:buChar char=""/>
            </a:pP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S</a:t>
            </a: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ize or </a:t>
            </a: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S</a:t>
            </a: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hape of the playing surface – for example, make it smaller or larger, circular or square</a:t>
            </a:r>
            <a:endParaRPr lang="en-US"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L="342900" marR="100330" lvl="0" indent="-342900">
              <a:lnSpc>
                <a:spcPct val="110000"/>
              </a:lnSpc>
              <a:spcBef>
                <a:spcPts val="300"/>
              </a:spcBef>
              <a:spcAft>
                <a:spcPts val="300"/>
              </a:spcAft>
              <a:buFont typeface="Wingdings" panose="05000000000000000000" pitchFamily="2" charset="2"/>
              <a:buChar char=""/>
            </a:pP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T</a:t>
            </a: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asks or rules of the game – for example, instead of having to count to ten to become “unfrozen” in a tag game, students have to solve a spelling challenge</a:t>
            </a:r>
            <a:endParaRPr lang="en-US"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L="342900" marR="100330" lvl="0" indent="-342900">
              <a:lnSpc>
                <a:spcPct val="110000"/>
              </a:lnSpc>
              <a:spcBef>
                <a:spcPts val="300"/>
              </a:spcBef>
              <a:spcAft>
                <a:spcPts val="300"/>
              </a:spcAft>
              <a:buFont typeface="Wingdings" panose="05000000000000000000" pitchFamily="2" charset="2"/>
              <a:buChar char=""/>
            </a:pP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E</a:t>
            </a: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quipment – for example, instead of collecting beanbags, students collect cards with numbers on them to use for addition and subtraction tasks</a:t>
            </a:r>
            <a:endParaRPr lang="en-US"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L="342900" marR="100330" lvl="0" indent="-342900">
              <a:lnSpc>
                <a:spcPct val="110000"/>
              </a:lnSpc>
              <a:spcBef>
                <a:spcPts val="300"/>
              </a:spcBef>
              <a:spcAft>
                <a:spcPts val="300"/>
              </a:spcAft>
              <a:buFont typeface="Wingdings" panose="05000000000000000000" pitchFamily="2" charset="2"/>
              <a:buChar char=""/>
            </a:pP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P</a:t>
            </a:r>
            <a:r>
              <a:rPr lang="en-CA" sz="2400" dirty="0" smtClean="0">
                <a:latin typeface="Franklin Gothic Book" panose="020B0503020102020204" pitchFamily="34" charset="0"/>
                <a:ea typeface="Times New Roman" panose="02020603050405020304" pitchFamily="18" charset="0"/>
                <a:cs typeface="Times New Roman" panose="02020603050405020304" pitchFamily="18" charset="0"/>
              </a:rPr>
              <a:t>eople playing the game – for example, students work in smaller teams to accomplish the task</a:t>
            </a:r>
            <a:endParaRPr lang="en-US"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R="100330" algn="ctr">
              <a:spcBef>
                <a:spcPts val="1200"/>
              </a:spcBef>
              <a:spcAft>
                <a:spcPts val="300"/>
              </a:spcAft>
            </a:pPr>
            <a:r>
              <a:rPr lang="en-CA" sz="2400" b="1" dirty="0" smtClean="0">
                <a:latin typeface="Franklin Gothic Book" panose="020B0503020102020204" pitchFamily="34" charset="0"/>
                <a:ea typeface="Times New Roman" panose="02020603050405020304" pitchFamily="18" charset="0"/>
                <a:cs typeface="Times New Roman" panose="02020603050405020304" pitchFamily="18" charset="0"/>
              </a:rPr>
              <a:t>Most importantly: BE CREATIVE</a:t>
            </a:r>
            <a:endParaRPr lang="en-US" sz="2400" b="1" dirty="0" smtClean="0">
              <a:latin typeface="Century Gothic" panose="020B0502020202020204" pitchFamily="34" charset="0"/>
              <a:ea typeface="Times New Roman" panose="02020603050405020304" pitchFamily="18" charset="0"/>
              <a:cs typeface="Times New Roman" panose="02020603050405020304" pitchFamily="18" charset="0"/>
            </a:endParaRPr>
          </a:p>
          <a:p>
            <a:pPr marL="571500" lvl="0" indent="-571500">
              <a:buFont typeface="Arial" panose="020B0604020202020204" pitchFamily="34" charset="0"/>
              <a:buChar char="•"/>
            </a:pPr>
            <a:endParaRPr lang="en-US" sz="4400" dirty="0" smtClean="0"/>
          </a:p>
        </p:txBody>
      </p:sp>
    </p:spTree>
    <p:extLst>
      <p:ext uri="{BB962C8B-B14F-4D97-AF65-F5344CB8AC3E}">
        <p14:creationId xmlns:p14="http://schemas.microsoft.com/office/powerpoint/2010/main" val="21955411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826701"/>
          </a:xfrm>
          <a:prstGeom prst="rect">
            <a:avLst/>
          </a:prstGeom>
          <a:noFill/>
        </p:spPr>
        <p:txBody>
          <a:bodyPr wrap="square" rtlCol="0">
            <a:spAutoFit/>
          </a:bodyPr>
          <a:lstStyle/>
          <a:p>
            <a:pPr>
              <a:lnSpc>
                <a:spcPct val="107000"/>
              </a:lnSpc>
              <a:spcAft>
                <a:spcPts val="1200"/>
              </a:spcAft>
              <a:tabLst>
                <a:tab pos="1028700" algn="l"/>
                <a:tab pos="1828800" algn="l"/>
                <a:tab pos="5657850" algn="r"/>
              </a:tabLst>
            </a:pPr>
            <a:r>
              <a:rPr lang="en-US" sz="48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36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1. </a:t>
            </a:r>
            <a:r>
              <a:rPr lang="en-US" sz="32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Developing </a:t>
            </a:r>
            <a:r>
              <a:rPr lang="en-US" sz="3200" b="1" dirty="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Literacy Skills through Play</a:t>
            </a:r>
            <a:endParaRPr lang="en-US"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933090"/>
            <a:ext cx="11625409" cy="6202467"/>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Tip 1:</a:t>
            </a:r>
            <a:r>
              <a:rPr lang="en-CA" sz="2800" dirty="0">
                <a:latin typeface="Franklin Gothic Book" panose="020B0503020102020204" pitchFamily="34" charset="0"/>
                <a:ea typeface="Calibri" panose="020F0502020204030204" pitchFamily="34" charset="0"/>
                <a:cs typeface="Times New Roman" panose="02020603050405020304" pitchFamily="18" charset="0"/>
              </a:rPr>
              <a:t>  Remember that effective questions are open-ended, specific, and focused on your curriculum objective. </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Tip 2:</a:t>
            </a:r>
            <a:r>
              <a:rPr lang="en-CA" sz="2800" dirty="0">
                <a:latin typeface="Franklin Gothic Book" panose="020B0503020102020204" pitchFamily="34" charset="0"/>
                <a:ea typeface="Calibri" panose="020F0502020204030204" pitchFamily="34" charset="0"/>
                <a:cs typeface="Times New Roman" panose="02020603050405020304" pitchFamily="18" charset="0"/>
              </a:rPr>
              <a:t>  For the Connect question, you can connect to both male and female students’ lives and experiences. You can also connect to their previous knowledge.  For example, you might ask: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“Where have you seen this before? What strategies have you used in the </a:t>
            </a:r>
            <a:r>
              <a:rPr lang="en-CA" sz="2800" i="1" dirty="0" smtClean="0">
                <a:latin typeface="Franklin Gothic Book" panose="020B0503020102020204" pitchFamily="34" charset="0"/>
                <a:ea typeface="Calibri" panose="020F0502020204030204" pitchFamily="34" charset="0"/>
                <a:cs typeface="Times New Roman" panose="02020603050405020304" pitchFamily="18" charset="0"/>
              </a:rPr>
              <a:t>past</a:t>
            </a:r>
          </a:p>
          <a:p>
            <a:pPr>
              <a:lnSpc>
                <a:spcPct val="115000"/>
              </a:lnSpc>
              <a:spcBef>
                <a:spcPts val="500"/>
              </a:spcBef>
              <a:spcAft>
                <a:spcPts val="300"/>
              </a:spcAft>
            </a:pPr>
            <a:r>
              <a:rPr lang="en-CA" sz="2800" b="1" dirty="0" smtClean="0">
                <a:latin typeface="Franklin Gothic Book" panose="020B0503020102020204" pitchFamily="34" charset="0"/>
                <a:ea typeface="Calibri" panose="020F0502020204030204" pitchFamily="34" charset="0"/>
                <a:cs typeface="Times New Roman" panose="02020603050405020304" pitchFamily="18" charset="0"/>
              </a:rPr>
              <a:t>Tip </a:t>
            </a:r>
            <a:r>
              <a:rPr lang="en-CA" sz="2800" b="1" dirty="0">
                <a:latin typeface="Franklin Gothic Book" panose="020B0503020102020204" pitchFamily="34" charset="0"/>
                <a:ea typeface="Calibri" panose="020F0502020204030204" pitchFamily="34" charset="0"/>
                <a:cs typeface="Times New Roman" panose="02020603050405020304" pitchFamily="18" charset="0"/>
              </a:rPr>
              <a:t>3:</a:t>
            </a:r>
            <a:r>
              <a:rPr lang="en-CA" sz="2800" dirty="0">
                <a:latin typeface="Franklin Gothic Book" panose="020B0503020102020204" pitchFamily="34" charset="0"/>
                <a:ea typeface="Calibri" panose="020F0502020204030204" pitchFamily="34" charset="0"/>
                <a:cs typeface="Times New Roman" panose="02020603050405020304" pitchFamily="18" charset="0"/>
              </a:rPr>
              <a:t>  For the Apply question, encourage male and female students to think about their life in the classroom but also beyond the classroom.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How could they apply their new knowledge to a future learning activity? </a:t>
            </a:r>
            <a:r>
              <a:rPr lang="en-CA" sz="2800" dirty="0" smtClean="0">
                <a:latin typeface="Franklin Gothic Book" panose="020B0503020102020204" pitchFamily="34" charset="0"/>
                <a:ea typeface="Calibri" panose="020F0502020204030204" pitchFamily="34" charset="0"/>
                <a:cs typeface="Times New Roman" panose="02020603050405020304" pitchFamily="18" charset="0"/>
              </a:rPr>
              <a:t>Additionally</a:t>
            </a:r>
            <a:r>
              <a:rPr lang="en-CA" sz="2800" dirty="0">
                <a:latin typeface="Franklin Gothic Book" panose="020B0503020102020204" pitchFamily="34" charset="0"/>
                <a:ea typeface="Calibri" panose="020F0502020204030204" pitchFamily="34" charset="0"/>
                <a:cs typeface="Times New Roman" panose="02020603050405020304" pitchFamily="18" charset="0"/>
              </a:rPr>
              <a:t>, the Apply question does not necessarily need to be a question. You may give students a small task or piece of homework to help them to apply their knowledge. </a:t>
            </a:r>
            <a:endParaRPr lang="en-US" sz="6000" dirty="0">
              <a:effectLst/>
              <a:latin typeface="Franklin Gothic Book" panose="020B0503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810547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655436"/>
          </a:xfrm>
          <a:prstGeom prst="rect">
            <a:avLst/>
          </a:prstGeom>
          <a:noFill/>
        </p:spPr>
        <p:txBody>
          <a:bodyPr wrap="square" rtlCol="0">
            <a:spAutoFit/>
          </a:bodyPr>
          <a:lstStyle/>
          <a:p>
            <a:pPr>
              <a:lnSpc>
                <a:spcPct val="107000"/>
              </a:lnSpc>
              <a:spcAft>
                <a:spcPts val="1200"/>
              </a:spcAft>
              <a:tabLst>
                <a:tab pos="1028700" algn="l"/>
                <a:tab pos="1828800" algn="l"/>
                <a:tab pos="5657850" algn="r"/>
              </a:tabLst>
            </a:pPr>
            <a:r>
              <a:rPr lang="en-US" sz="36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Using 2 Sets of RCA</a:t>
            </a:r>
            <a:endParaRPr lang="en-US" sz="2000"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933091"/>
            <a:ext cx="11914677" cy="5656029"/>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742950" marR="0" lvl="1" indent="-285750">
              <a:lnSpc>
                <a:spcPct val="120000"/>
              </a:lnSpc>
              <a:spcBef>
                <a:spcPts val="300"/>
              </a:spcBef>
              <a:spcAft>
                <a:spcPts val="300"/>
              </a:spcAft>
              <a:buFont typeface="Wingdings" panose="05000000000000000000" pitchFamily="2" charset="2"/>
              <a:buChar char=""/>
              <a:tabLst>
                <a:tab pos="228600" algn="l"/>
              </a:tabLst>
            </a:pPr>
            <a:r>
              <a:rPr lang="en-CA" sz="2400" dirty="0">
                <a:latin typeface="Maiandra GD" panose="020E0502030308020204" pitchFamily="34" charset="0"/>
                <a:ea typeface="Times New Roman" panose="02020603050405020304" pitchFamily="18" charset="0"/>
                <a:cs typeface="Times New Roman" panose="02020603050405020304" pitchFamily="18" charset="0"/>
              </a:rPr>
              <a:t>Teaching subject content by using Play-Based Learning complete with RCA discussion questions for both core competencies and subject content has the following benefits:”</a:t>
            </a:r>
            <a:endParaRPr lang="en-US" sz="2400" dirty="0">
              <a:latin typeface="Maiandra GD" panose="020E0502030308020204" pitchFamily="34" charset="0"/>
              <a:ea typeface="Calibri" panose="020F0502020204030204" pitchFamily="34" charset="0"/>
              <a:cs typeface="Times New Roman" panose="02020603050405020304" pitchFamily="18" charset="0"/>
            </a:endParaRPr>
          </a:p>
          <a:p>
            <a:pPr marL="1143000" marR="0" lvl="2" indent="-228600">
              <a:lnSpc>
                <a:spcPct val="120000"/>
              </a:lnSpc>
              <a:spcBef>
                <a:spcPts val="300"/>
              </a:spcBef>
              <a:spcAft>
                <a:spcPts val="300"/>
              </a:spcAft>
              <a:buFont typeface="Wingdings" panose="05000000000000000000" pitchFamily="2" charset="2"/>
              <a:buChar char=""/>
              <a:tabLst>
                <a:tab pos="228600" algn="l"/>
              </a:tabLst>
            </a:pP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Having </a:t>
            </a:r>
            <a:r>
              <a:rPr lang="en-CA" sz="2400" dirty="0">
                <a:latin typeface="Maiandra GD" panose="020E0502030308020204" pitchFamily="34" charset="0"/>
                <a:ea typeface="Times New Roman" panose="02020603050405020304" pitchFamily="18" charset="0"/>
                <a:cs typeface="Times New Roman" panose="02020603050405020304" pitchFamily="18" charset="0"/>
              </a:rPr>
              <a:t>two sets of RCA discussion questions help teachers build their own skills in the methodology itself. Over time teachers will be able to merge the questions on subject and core competency seamlessly as if they are only having a conversation with their students</a:t>
            </a: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a:t>
            </a:r>
            <a:endParaRPr lang="en-US" sz="2400" dirty="0">
              <a:latin typeface="Maiandra GD" panose="020E0502030308020204" pitchFamily="34" charset="0"/>
              <a:ea typeface="Calibri" panose="020F0502020204030204" pitchFamily="34" charset="0"/>
              <a:cs typeface="Times New Roman" panose="02020603050405020304" pitchFamily="18" charset="0"/>
            </a:endParaRPr>
          </a:p>
          <a:p>
            <a:pPr marL="1143000" marR="0" lvl="2" indent="-228600">
              <a:lnSpc>
                <a:spcPct val="120000"/>
              </a:lnSpc>
              <a:spcBef>
                <a:spcPts val="300"/>
              </a:spcBef>
              <a:spcAft>
                <a:spcPts val="300"/>
              </a:spcAft>
              <a:buFont typeface="Wingdings" panose="05000000000000000000" pitchFamily="2" charset="2"/>
              <a:buChar char=""/>
              <a:tabLst>
                <a:tab pos="228600" algn="l"/>
              </a:tabLst>
            </a:pP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Having </a:t>
            </a:r>
            <a:r>
              <a:rPr lang="en-CA" sz="2400" dirty="0">
                <a:latin typeface="Maiandra GD" panose="020E0502030308020204" pitchFamily="34" charset="0"/>
                <a:ea typeface="Times New Roman" panose="02020603050405020304" pitchFamily="18" charset="0"/>
                <a:cs typeface="Times New Roman" panose="02020603050405020304" pitchFamily="18" charset="0"/>
              </a:rPr>
              <a:t>two sets of RCA discussion questions help teachers accomplish multiple learning – one for subject and the other for the core competencies found in the curriculum</a:t>
            </a: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a:t>
            </a:r>
            <a:endParaRPr lang="en-US" sz="2400" dirty="0">
              <a:latin typeface="Maiandra GD" panose="020E0502030308020204" pitchFamily="34" charset="0"/>
              <a:ea typeface="Calibri" panose="020F0502020204030204" pitchFamily="34" charset="0"/>
              <a:cs typeface="Times New Roman" panose="02020603050405020304" pitchFamily="18" charset="0"/>
            </a:endParaRPr>
          </a:p>
          <a:p>
            <a:pPr marL="1143000" marR="0" lvl="2" indent="-228600">
              <a:lnSpc>
                <a:spcPct val="120000"/>
              </a:lnSpc>
              <a:spcBef>
                <a:spcPts val="300"/>
              </a:spcBef>
              <a:spcAft>
                <a:spcPts val="300"/>
              </a:spcAft>
              <a:buFont typeface="Wingdings" panose="05000000000000000000" pitchFamily="2" charset="2"/>
              <a:buChar char=""/>
              <a:tabLst>
                <a:tab pos="228600" algn="l"/>
              </a:tabLst>
            </a:pP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Integrating </a:t>
            </a:r>
            <a:r>
              <a:rPr lang="en-CA" sz="2400" dirty="0">
                <a:latin typeface="Maiandra GD" panose="020E0502030308020204" pitchFamily="34" charset="0"/>
                <a:ea typeface="Times New Roman" panose="02020603050405020304" pitchFamily="18" charset="0"/>
                <a:cs typeface="Times New Roman" panose="02020603050405020304" pitchFamily="18" charset="0"/>
              </a:rPr>
              <a:t>core competency discussions in subject lessons help students develop ‘conscious competence</a:t>
            </a:r>
            <a:r>
              <a:rPr lang="en-CA" sz="2400" dirty="0" smtClean="0">
                <a:latin typeface="Maiandra GD" panose="020E0502030308020204" pitchFamily="34" charset="0"/>
                <a:ea typeface="Times New Roman" panose="02020603050405020304" pitchFamily="18" charset="0"/>
                <a:cs typeface="Times New Roman" panose="02020603050405020304" pitchFamily="18" charset="0"/>
              </a:rPr>
              <a:t>.</a:t>
            </a:r>
            <a:endParaRPr lang="en-US" sz="2400" dirty="0">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88998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826701"/>
          </a:xfrm>
          <a:prstGeom prst="rect">
            <a:avLst/>
          </a:prstGeom>
          <a:noFill/>
        </p:spPr>
        <p:txBody>
          <a:bodyPr wrap="square" rtlCol="0">
            <a:spAutoFit/>
          </a:bodyPr>
          <a:lstStyle/>
          <a:p>
            <a:pPr lvl="0">
              <a:lnSpc>
                <a:spcPct val="107000"/>
              </a:lnSpc>
              <a:spcAft>
                <a:spcPts val="1200"/>
              </a:spcAft>
              <a:tabLst>
                <a:tab pos="1028700" algn="l"/>
                <a:tab pos="1828800" algn="l"/>
                <a:tab pos="5657850" algn="r"/>
              </a:tabLst>
            </a:pPr>
            <a:r>
              <a:rPr lang="en-US" sz="48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3600" b="1" dirty="0">
                <a:solidFill>
                  <a:prstClr val="black"/>
                </a:solidFill>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Using 2 Sets of RCA</a:t>
            </a:r>
            <a:endParaRPr lang="en-US" sz="2000" dirty="0">
              <a:solidFill>
                <a:prstClr val="black"/>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67257" y="933091"/>
            <a:ext cx="11914677" cy="6001643"/>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742950" marR="0" lvl="1" indent="-285750">
              <a:lnSpc>
                <a:spcPct val="120000"/>
              </a:lnSpc>
              <a:spcBef>
                <a:spcPts val="300"/>
              </a:spcBef>
              <a:spcAft>
                <a:spcPts val="300"/>
              </a:spcAft>
              <a:buFont typeface="Wingdings" panose="05000000000000000000" pitchFamily="2" charset="2"/>
              <a:buChar char=""/>
              <a:tabLst>
                <a:tab pos="228600" algn="l"/>
              </a:tabLst>
            </a:pPr>
            <a:r>
              <a:rPr lang="en-CA" sz="3200" dirty="0">
                <a:latin typeface="Maiandra GD" panose="020E0502030308020204" pitchFamily="34" charset="0"/>
                <a:ea typeface="Times New Roman" panose="02020603050405020304" pitchFamily="18" charset="0"/>
                <a:cs typeface="Times New Roman" panose="02020603050405020304" pitchFamily="18" charset="0"/>
              </a:rPr>
              <a:t>Remember that  in the initial stages of modifying games to teach subject content, teachers will naturally focus on the Learning Objective related to that content alone.  This does not mean that the core competencies disappear from the game.  Children will still gain core competency benefits from the game, even if the focus is on academic content. In fact the core competencies in the game can enhance their curriculum learning.  Regardless of the curriculum focus, children will have to cooperate, work together, think </a:t>
            </a:r>
            <a:r>
              <a:rPr lang="en-CA" sz="3200" dirty="0" smtClean="0">
                <a:latin typeface="Maiandra GD" panose="020E0502030308020204" pitchFamily="34" charset="0"/>
                <a:ea typeface="Times New Roman" panose="02020603050405020304" pitchFamily="18" charset="0"/>
                <a:cs typeface="Times New Roman" panose="02020603050405020304" pitchFamily="18" charset="0"/>
              </a:rPr>
              <a:t>critically, </a:t>
            </a:r>
            <a:r>
              <a:rPr lang="en-CA" sz="3200" dirty="0">
                <a:latin typeface="Maiandra GD" panose="020E0502030308020204" pitchFamily="34" charset="0"/>
                <a:ea typeface="Times New Roman" panose="02020603050405020304" pitchFamily="18" charset="0"/>
                <a:cs typeface="Times New Roman" panose="02020603050405020304" pitchFamily="18" charset="0"/>
              </a:rPr>
              <a:t>solve problems, </a:t>
            </a:r>
            <a:r>
              <a:rPr lang="en-CA" sz="3200" dirty="0" smtClean="0">
                <a:latin typeface="Maiandra GD" panose="020E0502030308020204" pitchFamily="34" charset="0"/>
                <a:ea typeface="Times New Roman" panose="02020603050405020304" pitchFamily="18" charset="0"/>
                <a:cs typeface="Times New Roman" panose="02020603050405020304" pitchFamily="18" charset="0"/>
              </a:rPr>
              <a:t>concentrate</a:t>
            </a:r>
            <a:endParaRPr lang="en-US" sz="2400" dirty="0">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681138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826701"/>
          </a:xfrm>
          <a:prstGeom prst="rect">
            <a:avLst/>
          </a:prstGeom>
          <a:noFill/>
        </p:spPr>
        <p:txBody>
          <a:bodyPr wrap="square" rtlCol="0">
            <a:spAutoFit/>
          </a:bodyPr>
          <a:lstStyle/>
          <a:p>
            <a:pPr lvl="0">
              <a:lnSpc>
                <a:spcPct val="107000"/>
              </a:lnSpc>
              <a:spcAft>
                <a:spcPts val="1200"/>
              </a:spcAft>
              <a:tabLst>
                <a:tab pos="1028700" algn="l"/>
                <a:tab pos="1828800" algn="l"/>
                <a:tab pos="5657850" algn="r"/>
              </a:tabLst>
            </a:pPr>
            <a:r>
              <a:rPr lang="en-US" sz="48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3600" b="1" dirty="0">
                <a:solidFill>
                  <a:prstClr val="black"/>
                </a:solidFill>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Using 2 Sets of RCA</a:t>
            </a:r>
            <a:endParaRPr lang="en-US" sz="2000" dirty="0">
              <a:solidFill>
                <a:prstClr val="black"/>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77323" y="1616920"/>
            <a:ext cx="11914677" cy="4319901"/>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algn="ctr">
              <a:lnSpc>
                <a:spcPct val="107000"/>
              </a:lnSpc>
              <a:spcBef>
                <a:spcPts val="300"/>
              </a:spcBef>
              <a:tabLst>
                <a:tab pos="1028700" algn="l"/>
                <a:tab pos="1828800" algn="l"/>
                <a:tab pos="5657850" algn="r"/>
              </a:tabLst>
            </a:pPr>
            <a:r>
              <a:rPr lang="en-US" sz="2800" dirty="0">
                <a:latin typeface="Franklin Gothic Medium" panose="020B0603020102020204" pitchFamily="34" charset="0"/>
                <a:ea typeface="Times New Roman" panose="02020603050405020304" pitchFamily="18" charset="0"/>
                <a:cs typeface="Arial" panose="020B0604020202020204" pitchFamily="34" charset="0"/>
              </a:rPr>
              <a:t>Build-A-Word</a:t>
            </a:r>
            <a:endParaRPr lang="en-US" sz="3600" dirty="0">
              <a:latin typeface="Franklin Gothic Medium" panose="020B0603020102020204" pitchFamily="34" charset="0"/>
              <a:ea typeface="Times New Roman" panose="02020603050405020304" pitchFamily="18" charset="0"/>
              <a:cs typeface="Arial" panose="020B0604020202020204" pitchFamily="34" charset="0"/>
            </a:endParaRPr>
          </a:p>
          <a:p>
            <a:pPr algn="ctr">
              <a:lnSpc>
                <a:spcPct val="107000"/>
              </a:lnSpc>
              <a:spcBef>
                <a:spcPts val="300"/>
              </a:spcBef>
              <a:tabLst>
                <a:tab pos="1028700" algn="l"/>
                <a:tab pos="1828800" algn="l"/>
                <a:tab pos="5657850" algn="r"/>
              </a:tabLst>
            </a:pPr>
            <a:r>
              <a:rPr lang="en-US" sz="2800" dirty="0">
                <a:latin typeface="Franklin Gothic Medium" panose="020B0603020102020204" pitchFamily="34" charset="0"/>
                <a:ea typeface="Times New Roman" panose="02020603050405020304" pitchFamily="18" charset="0"/>
                <a:cs typeface="Arial" panose="020B0604020202020204" pitchFamily="34" charset="0"/>
              </a:rPr>
              <a:t>RCA Discussion Question for Subject Matter</a:t>
            </a:r>
            <a:endParaRPr lang="en-US" sz="3600" dirty="0">
              <a:latin typeface="Franklin Gothic Medium" panose="020B0603020102020204" pitchFamily="34" charset="0"/>
              <a:ea typeface="Times New Roman" panose="02020603050405020304" pitchFamily="18" charset="0"/>
              <a:cs typeface="Arial" panose="020B0604020202020204" pitchFamily="34"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Reflect:</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Which words were the most difficult to spell? Which were the easiest? </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Connect:</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Which everyday word do you or your friends usually have a hard time spelling correctly? </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Apply:</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Which difficult word would you like to spell when you get back home?</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marL="742950" marR="0" lvl="1" indent="-285750">
              <a:lnSpc>
                <a:spcPct val="120000"/>
              </a:lnSpc>
              <a:spcBef>
                <a:spcPts val="300"/>
              </a:spcBef>
              <a:spcAft>
                <a:spcPts val="300"/>
              </a:spcAft>
              <a:buFont typeface="Wingdings" panose="05000000000000000000" pitchFamily="2" charset="2"/>
              <a:buChar char=""/>
              <a:tabLst>
                <a:tab pos="228600" algn="l"/>
              </a:tabLst>
            </a:pPr>
            <a:endParaRPr lang="en-US" sz="2400" dirty="0">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35507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826701"/>
          </a:xfrm>
          <a:prstGeom prst="rect">
            <a:avLst/>
          </a:prstGeom>
          <a:noFill/>
        </p:spPr>
        <p:txBody>
          <a:bodyPr wrap="square" rtlCol="0">
            <a:spAutoFit/>
          </a:bodyPr>
          <a:lstStyle/>
          <a:p>
            <a:pPr lvl="0">
              <a:lnSpc>
                <a:spcPct val="107000"/>
              </a:lnSpc>
              <a:spcAft>
                <a:spcPts val="1200"/>
              </a:spcAft>
              <a:tabLst>
                <a:tab pos="1028700" algn="l"/>
                <a:tab pos="1828800" algn="l"/>
                <a:tab pos="5657850" algn="r"/>
              </a:tabLst>
            </a:pPr>
            <a:r>
              <a:rPr lang="en-US" sz="48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3600" b="1" dirty="0">
                <a:solidFill>
                  <a:prstClr val="black"/>
                </a:solidFill>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Using 2 Sets of RCA</a:t>
            </a:r>
            <a:endParaRPr lang="en-US" sz="2000" dirty="0">
              <a:solidFill>
                <a:prstClr val="black"/>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277323" y="1616920"/>
            <a:ext cx="11914677" cy="4756302"/>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algn="ctr">
              <a:lnSpc>
                <a:spcPct val="107000"/>
              </a:lnSpc>
              <a:spcBef>
                <a:spcPts val="300"/>
              </a:spcBef>
              <a:tabLst>
                <a:tab pos="1028700" algn="l"/>
                <a:tab pos="1828800" algn="l"/>
                <a:tab pos="5657850" algn="r"/>
              </a:tabLst>
            </a:pPr>
            <a:r>
              <a:rPr lang="en-US" sz="2800" dirty="0">
                <a:latin typeface="Franklin Gothic Medium" panose="020B0603020102020204" pitchFamily="34" charset="0"/>
                <a:ea typeface="Times New Roman" panose="02020603050405020304" pitchFamily="18" charset="0"/>
                <a:cs typeface="Arial" panose="020B0604020202020204" pitchFamily="34" charset="0"/>
              </a:rPr>
              <a:t>Build-A-Word</a:t>
            </a:r>
            <a:endParaRPr lang="en-US" sz="3600" dirty="0">
              <a:latin typeface="Franklin Gothic Medium" panose="020B0603020102020204" pitchFamily="34" charset="0"/>
              <a:ea typeface="Times New Roman" panose="02020603050405020304" pitchFamily="18" charset="0"/>
              <a:cs typeface="Arial" panose="020B0604020202020204" pitchFamily="34" charset="0"/>
            </a:endParaRPr>
          </a:p>
          <a:p>
            <a:pPr algn="ctr">
              <a:lnSpc>
                <a:spcPct val="107000"/>
              </a:lnSpc>
              <a:spcBef>
                <a:spcPts val="300"/>
              </a:spcBef>
              <a:tabLst>
                <a:tab pos="1028700" algn="l"/>
                <a:tab pos="1828800" algn="l"/>
                <a:tab pos="5657850" algn="r"/>
              </a:tabLst>
            </a:pPr>
            <a:r>
              <a:rPr lang="en-US" sz="2800" dirty="0">
                <a:latin typeface="Franklin Gothic Medium" panose="020B0603020102020204" pitchFamily="34" charset="0"/>
                <a:ea typeface="Times New Roman" panose="02020603050405020304" pitchFamily="18" charset="0"/>
                <a:cs typeface="Arial" panose="020B0604020202020204" pitchFamily="34" charset="0"/>
              </a:rPr>
              <a:t>RCA Discussion Question for Core Competency on Cooperation and Collaboration (CC)</a:t>
            </a:r>
            <a:endParaRPr lang="en-US" sz="3600" dirty="0">
              <a:latin typeface="Franklin Gothic Medium" panose="020B0603020102020204" pitchFamily="34" charset="0"/>
              <a:ea typeface="Times New Roman" panose="02020603050405020304" pitchFamily="18" charset="0"/>
              <a:cs typeface="Arial" panose="020B0604020202020204" pitchFamily="34"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Reflect:</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What did the members of your team do so you can get the spelling correctly? </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Connect:</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How do you figure out how to spell a word? Who helps you at home when you have trouble spelling? </a:t>
            </a:r>
            <a:endParaRPr lang="en-US" sz="2800" dirty="0">
              <a:latin typeface="Franklin Gothic Book" panose="020B0503020102020204" pitchFamily="34" charset="0"/>
              <a:ea typeface="Calibri" panose="020F0502020204030204" pitchFamily="34" charset="0"/>
              <a:cs typeface="Times New Roman" panose="02020603050405020304" pitchFamily="18" charset="0"/>
            </a:endParaRPr>
          </a:p>
          <a:p>
            <a:pPr>
              <a:lnSpc>
                <a:spcPct val="115000"/>
              </a:lnSpc>
              <a:spcBef>
                <a:spcPts val="500"/>
              </a:spcBef>
              <a:spcAft>
                <a:spcPts val="300"/>
              </a:spcAft>
            </a:pPr>
            <a:r>
              <a:rPr lang="en-CA" sz="2800" b="1" dirty="0">
                <a:latin typeface="Franklin Gothic Book" panose="020B0503020102020204" pitchFamily="34" charset="0"/>
                <a:ea typeface="Calibri" panose="020F0502020204030204" pitchFamily="34" charset="0"/>
                <a:cs typeface="Times New Roman" panose="02020603050405020304" pitchFamily="18" charset="0"/>
              </a:rPr>
              <a:t>Apply:</a:t>
            </a:r>
            <a:r>
              <a:rPr lang="en-CA" sz="2800" dirty="0">
                <a:latin typeface="Franklin Gothic Book" panose="020B0503020102020204" pitchFamily="34" charset="0"/>
                <a:ea typeface="Calibri" panose="020F0502020204030204" pitchFamily="34" charset="0"/>
                <a:cs typeface="Times New Roman" panose="02020603050405020304" pitchFamily="18" charset="0"/>
              </a:rPr>
              <a:t>  </a:t>
            </a:r>
            <a:r>
              <a:rPr lang="en-CA" sz="2800" i="1" dirty="0">
                <a:latin typeface="Franklin Gothic Book" panose="020B0503020102020204" pitchFamily="34" charset="0"/>
                <a:ea typeface="Calibri" panose="020F0502020204030204" pitchFamily="34" charset="0"/>
                <a:cs typeface="Times New Roman" panose="02020603050405020304" pitchFamily="18" charset="0"/>
              </a:rPr>
              <a:t>Who can help you practice the words that are difficult for you? Who can you help today to spell words correctly?</a:t>
            </a:r>
            <a:endParaRPr lang="en-US" sz="2800" dirty="0">
              <a:effectLst/>
              <a:latin typeface="Franklin Gothic Book" panose="020B05030201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443673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49783" y="4571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2" name="TextBox 11">
            <a:extLst>
              <a:ext uri="{FF2B5EF4-FFF2-40B4-BE49-F238E27FC236}">
                <a16:creationId xmlns:a16="http://schemas.microsoft.com/office/drawing/2014/main" xmlns="" id="{4A4396DF-BBFB-924A-9E06-A8A101B9A2B5}"/>
              </a:ext>
            </a:extLst>
          </p:cNvPr>
          <p:cNvSpPr txBox="1"/>
          <p:nvPr/>
        </p:nvSpPr>
        <p:spPr>
          <a:xfrm>
            <a:off x="49783" y="137920"/>
            <a:ext cx="12204701" cy="918521"/>
          </a:xfrm>
          <a:prstGeom prst="rect">
            <a:avLst/>
          </a:prstGeom>
          <a:noFill/>
        </p:spPr>
        <p:txBody>
          <a:bodyPr wrap="square" rtlCol="0">
            <a:spAutoFit/>
          </a:bodyPr>
          <a:lstStyle/>
          <a:p>
            <a:pPr lvl="0">
              <a:lnSpc>
                <a:spcPct val="107000"/>
              </a:lnSpc>
              <a:spcAft>
                <a:spcPts val="1200"/>
              </a:spcAft>
              <a:tabLst>
                <a:tab pos="1028700" algn="l"/>
                <a:tab pos="1828800" algn="l"/>
                <a:tab pos="5657850" algn="r"/>
              </a:tabLst>
            </a:pPr>
            <a:r>
              <a:rPr lang="en-US" sz="5400" b="1" dirty="0" smtClean="0">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 </a:t>
            </a:r>
            <a:r>
              <a:rPr lang="en-US" sz="4000" b="1" dirty="0">
                <a:solidFill>
                  <a:prstClr val="black"/>
                </a:solidFill>
                <a:effectLst>
                  <a:outerShdw blurRad="38100" dist="38100" dir="2700000" algn="tl">
                    <a:srgbClr val="000000">
                      <a:alpha val="43137"/>
                    </a:srgbClr>
                  </a:outerShdw>
                </a:effectLst>
                <a:latin typeface="Franklin Gothic Book" panose="020B0503020102020204" pitchFamily="34" charset="0"/>
                <a:ea typeface="Calibri" panose="020F0502020204030204" pitchFamily="34" charset="0"/>
                <a:cs typeface="Arial" panose="020B0604020202020204" pitchFamily="34" charset="0"/>
              </a:rPr>
              <a:t>Using 2 Sets of RCA</a:t>
            </a:r>
            <a:endParaRPr lang="en-US" sz="2400" dirty="0">
              <a:solidFill>
                <a:prstClr val="black"/>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xmlns="" id="{02A1F86F-4CF0-CF42-B93F-C6083533C34B}"/>
              </a:ext>
            </a:extLst>
          </p:cNvPr>
          <p:cNvSpPr txBox="1"/>
          <p:nvPr/>
        </p:nvSpPr>
        <p:spPr>
          <a:xfrm>
            <a:off x="379615" y="2793283"/>
            <a:ext cx="11914677" cy="704295"/>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571500" indent="-571500" algn="ctr">
              <a:lnSpc>
                <a:spcPct val="107000"/>
              </a:lnSpc>
              <a:spcBef>
                <a:spcPts val="300"/>
              </a:spcBef>
              <a:buFont typeface="Arial" panose="020B0604020202020204" pitchFamily="34" charset="0"/>
              <a:buChar char="•"/>
              <a:tabLst>
                <a:tab pos="1028700" algn="l"/>
                <a:tab pos="1828800" algn="l"/>
                <a:tab pos="5657850" algn="r"/>
              </a:tabLst>
            </a:pPr>
            <a:r>
              <a:rPr lang="en-US" sz="4000" dirty="0" smtClean="0">
                <a:effectLst/>
                <a:latin typeface="Maiandra GD" panose="020E0502030308020204" pitchFamily="34" charset="0"/>
                <a:ea typeface="Calibri" panose="020F0502020204030204" pitchFamily="34" charset="0"/>
                <a:cs typeface="Times New Roman" panose="02020603050405020304" pitchFamily="18" charset="0"/>
              </a:rPr>
              <a:t>Determining the 2 Sets of RCA Questions</a:t>
            </a:r>
            <a:endParaRPr lang="en-US" sz="4000" dirty="0">
              <a:effectLst/>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867527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11574" y="-11575"/>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rot="10800000">
            <a:off x="59224" y="133521"/>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44510" cy="496111"/>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
        <p:nvSpPr>
          <p:cNvPr id="15" name="TextBox 14">
            <a:extLst>
              <a:ext uri="{FF2B5EF4-FFF2-40B4-BE49-F238E27FC236}">
                <a16:creationId xmlns:a16="http://schemas.microsoft.com/office/drawing/2014/main" xmlns="" id="{02A1F86F-4CF0-CF42-B93F-C6083533C34B}"/>
              </a:ext>
            </a:extLst>
          </p:cNvPr>
          <p:cNvSpPr txBox="1"/>
          <p:nvPr/>
        </p:nvSpPr>
        <p:spPr>
          <a:xfrm>
            <a:off x="884419" y="2788170"/>
            <a:ext cx="10822899" cy="904863"/>
          </a:xfrm>
          <a:prstGeom prst="rect">
            <a:avLst/>
          </a:prstGeom>
          <a:noFill/>
          <a:ln w="38100"/>
        </p:spPr>
        <p:style>
          <a:lnRef idx="2">
            <a:schemeClr val="accent4"/>
          </a:lnRef>
          <a:fillRef idx="1">
            <a:schemeClr val="lt1"/>
          </a:fillRef>
          <a:effectRef idx="0">
            <a:schemeClr val="accent4"/>
          </a:effectRef>
          <a:fontRef idx="minor">
            <a:schemeClr val="dk1"/>
          </a:fontRef>
        </p:style>
        <p:txBody>
          <a:bodyPr wrap="square" rtlCol="0">
            <a:spAutoFit/>
          </a:bodyPr>
          <a:lstStyle/>
          <a:p>
            <a:pPr marL="685800" indent="-685800">
              <a:lnSpc>
                <a:spcPct val="110000"/>
              </a:lnSpc>
              <a:spcBef>
                <a:spcPts val="600"/>
              </a:spcBef>
              <a:spcAft>
                <a:spcPts val="400"/>
              </a:spcAft>
              <a:buFont typeface="Arial" panose="020B0604020202020204" pitchFamily="34" charset="0"/>
              <a:buChar char="•"/>
            </a:pPr>
            <a:r>
              <a:rPr lang="en-US" sz="4800" b="1" dirty="0" smtClean="0">
                <a:latin typeface="Rubik Light"/>
                <a:ea typeface="Calibri" panose="020F0502020204030204" pitchFamily="34" charset="0"/>
                <a:cs typeface="Rubik"/>
              </a:rPr>
              <a:t>Questions and Answers</a:t>
            </a:r>
            <a:endParaRPr lang="en-US" sz="4400" dirty="0">
              <a:latin typeface="Maiandra GD" panose="020E0502030308020204" pitchFamily="34" charset="0"/>
              <a:ea typeface="Calibri" panose="020F0502020204030204" pitchFamily="34" charset="0"/>
              <a:cs typeface="Rubik"/>
            </a:endParaRPr>
          </a:p>
        </p:txBody>
      </p:sp>
    </p:spTree>
    <p:extLst>
      <p:ext uri="{BB962C8B-B14F-4D97-AF65-F5344CB8AC3E}">
        <p14:creationId xmlns:p14="http://schemas.microsoft.com/office/powerpoint/2010/main" val="33475987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95" t="4638" r="40" b="15694"/>
          <a:stretch/>
        </p:blipFill>
        <p:spPr>
          <a:xfrm>
            <a:off x="-64082" y="-39284"/>
            <a:ext cx="12246016" cy="6886938"/>
          </a:xfrm>
          <a:prstGeom prst="rect">
            <a:avLst/>
          </a:prstGeom>
        </p:spPr>
      </p:pic>
      <p:sp>
        <p:nvSpPr>
          <p:cNvPr id="29" name="Rectangle 28">
            <a:extLst>
              <a:ext uri="{FF2B5EF4-FFF2-40B4-BE49-F238E27FC236}">
                <a16:creationId xmlns:a16="http://schemas.microsoft.com/office/drawing/2014/main" xmlns="" id="{FD9E91A3-2FF6-FB49-9814-04BC21A03FAE}"/>
              </a:ext>
            </a:extLst>
          </p:cNvPr>
          <p:cNvSpPr/>
          <p:nvPr/>
        </p:nvSpPr>
        <p:spPr>
          <a:xfrm>
            <a:off x="41592" y="22859"/>
            <a:ext cx="12194357" cy="6596746"/>
          </a:xfrm>
          <a:prstGeom prst="rect">
            <a:avLst/>
          </a:prstGeom>
          <a:solidFill>
            <a:schemeClr val="bg1">
              <a:alpha val="7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solidFill>
                  <a:schemeClr val="tx1">
                    <a:lumMod val="85000"/>
                    <a:lumOff val="15000"/>
                  </a:schemeClr>
                </a:solidFill>
                <a:latin typeface="Maiandra GD" panose="020E0502030308020204" pitchFamily="34" charset="0"/>
              </a:rPr>
              <a:t>Thank you!</a:t>
            </a:r>
            <a:endParaRPr lang="en-US" sz="7200" dirty="0">
              <a:solidFill>
                <a:schemeClr val="tx1">
                  <a:lumMod val="85000"/>
                  <a:lumOff val="15000"/>
                </a:schemeClr>
              </a:solidFill>
              <a:latin typeface="Maiandra GD" panose="020E0502030308020204" pitchFamily="34" charset="0"/>
            </a:endParaRPr>
          </a:p>
        </p:txBody>
      </p:sp>
      <p:sp>
        <p:nvSpPr>
          <p:cNvPr id="30" name="Rectangle 29">
            <a:extLst>
              <a:ext uri="{FF2B5EF4-FFF2-40B4-BE49-F238E27FC236}">
                <a16:creationId xmlns:a16="http://schemas.microsoft.com/office/drawing/2014/main" xmlns="" id="{D2544164-F84A-DA47-B645-D4357E44F719}"/>
              </a:ext>
            </a:extLst>
          </p:cNvPr>
          <p:cNvSpPr/>
          <p:nvPr/>
        </p:nvSpPr>
        <p:spPr>
          <a:xfrm>
            <a:off x="-10068" y="6639581"/>
            <a:ext cx="12204701" cy="2232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xmlns="" id="{EAFAC7A3-6B9E-394A-B4DC-893D0405EE18}"/>
              </a:ext>
            </a:extLst>
          </p:cNvPr>
          <p:cNvSpPr/>
          <p:nvPr/>
        </p:nvSpPr>
        <p:spPr>
          <a:xfrm>
            <a:off x="-10067" y="0"/>
            <a:ext cx="12192001" cy="45719"/>
          </a:xfrm>
          <a:prstGeom prst="rect">
            <a:avLst/>
          </a:prstGeom>
          <a:gradFill flip="none" rotWithShape="1">
            <a:gsLst>
              <a:gs pos="0">
                <a:srgbClr val="FFAA00">
                  <a:lumMod val="99000"/>
                  <a:lumOff val="1000"/>
                  <a:alpha val="85000"/>
                </a:srgbClr>
              </a:gs>
              <a:gs pos="100000">
                <a:srgbClr val="FFAA00"/>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xmlns="" id="{538CBFEF-BEA5-C14F-80A7-747EE3B2958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153115" y="275531"/>
            <a:ext cx="739551" cy="739551"/>
          </a:xfrm>
          <a:prstGeom prst="rect">
            <a:avLst/>
          </a:prstGeom>
        </p:spPr>
      </p:pic>
    </p:spTree>
    <p:extLst>
      <p:ext uri="{BB962C8B-B14F-4D97-AF65-F5344CB8AC3E}">
        <p14:creationId xmlns:p14="http://schemas.microsoft.com/office/powerpoint/2010/main" val="208604282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21300</TotalTime>
  <Words>737</Words>
  <Application>Microsoft Office PowerPoint</Application>
  <PresentationFormat>Widescreen</PresentationFormat>
  <Paragraphs>59</Paragraphs>
  <Slides>14</Slides>
  <Notes>14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vt:i4>
      </vt:variant>
    </vt:vector>
  </HeadingPairs>
  <TitlesOfParts>
    <vt:vector size="27" baseType="lpstr">
      <vt:lpstr>Arial</vt:lpstr>
      <vt:lpstr>Calibri</vt:lpstr>
      <vt:lpstr>Calibri Light</vt:lpstr>
      <vt:lpstr>Century Gothic</vt:lpstr>
      <vt:lpstr>Franklin Gothic Book</vt:lpstr>
      <vt:lpstr>Franklin Gothic Medium</vt:lpstr>
      <vt:lpstr>Maiandra GD</vt:lpstr>
      <vt:lpstr>Rubik</vt:lpstr>
      <vt:lpstr>Rubik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Ghana Baseline Report   October, 2018</dc:title>
  <dc:creator>Kwabena Gao</dc:creator>
  <cp:lastModifiedBy>Lawrence </cp:lastModifiedBy>
  <cp:revision>268</cp:revision>
  <dcterms:created xsi:type="dcterms:W3CDTF">2018-12-08T05:06:44Z</dcterms:created>
  <dcterms:modified xsi:type="dcterms:W3CDTF">2020-10-03T09:00:32Z</dcterms:modified>
</cp:coreProperties>
</file>